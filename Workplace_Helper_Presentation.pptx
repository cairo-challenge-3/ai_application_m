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infraenkische-werkstaetten.d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infraenkische-werkstaetten.d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548640"/>
            <a:ext cx="4846320" cy="7680960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234440"/>
            <a:ext cx="3108960" cy="3108960"/>
          </a:xfrm>
          <a:prstGeom prst="ellipse">
            <a:avLst/>
          </a:prstGeom>
          <a:solidFill>
            <a:srgbClr val="DC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19438" y="1681581"/>
            <a:ext cx="1632204" cy="1248156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44253" y="1815998"/>
            <a:ext cx="1382572" cy="81610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74682" y="2036826"/>
            <a:ext cx="153619" cy="153619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42778" y="2036826"/>
            <a:ext cx="153619" cy="153619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76307" y="2363266"/>
            <a:ext cx="528066" cy="57607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1462" y="2881731"/>
            <a:ext cx="1248156" cy="1324965"/>
          </a:xfrm>
          <a:prstGeom prst="round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93884" y="3112160"/>
            <a:ext cx="883310" cy="65288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510" y="3188970"/>
            <a:ext cx="499262" cy="40325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D94249"/>
                </a:solidFill>
                <a:latin typeface="Arial"/>
              </a:defRPr>
            </a:pPr>
            <a:r>
              <a:t>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7015" y="2996946"/>
            <a:ext cx="336042" cy="960120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07624" y="2996946"/>
            <a:ext cx="336042" cy="960120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1890" y="4158691"/>
            <a:ext cx="816102" cy="230428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685800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YOUR HELPER</a:t>
            </a:r>
          </a:p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AT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630936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0">
                <a:solidFill>
                  <a:srgbClr val="DCEAFF"/>
                </a:solidFill>
                <a:latin typeface="Arial"/>
              </a:defRPr>
            </a:pPr>
            <a:r>
              <a:t>A safer day.</a:t>
            </a:r>
          </a:p>
          <a:p>
            <a:pPr algn="l">
              <a:defRPr sz="2700" b="0">
                <a:solidFill>
                  <a:srgbClr val="DCEAFF"/>
                </a:solidFill>
                <a:latin typeface="Arial"/>
              </a:defRPr>
            </a:pPr>
            <a:r>
              <a:t>A little more independence.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56048"/>
            <a:ext cx="3749039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-cropp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5010912"/>
            <a:ext cx="3154680" cy="9098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5528" y="6108192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DCEAFF"/>
                </a:solidFill>
                <a:latin typeface="Arial"/>
              </a:defRPr>
            </a:pPr>
            <a:r>
              <a:t>Tap the logo to visit the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Meet your workplace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Two simple ways to get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66360" cy="333756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9728" cy="33375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4709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300" b="1">
                <a:solidFill>
                  <a:srgbClr val="2259D6"/>
                </a:solidFill>
                <a:latin typeface="Arial"/>
              </a:defRPr>
            </a:pPr>
            <a:r>
              <a:t>1   SAFETY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4663440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The camera checks for</a:t>
            </a: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safety gear.</a:t>
            </a: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Need something?</a:t>
            </a: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You get a friendly reminder.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333756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109728" cy="3337560"/>
          </a:xfrm>
          <a:prstGeom prst="rect">
            <a:avLst/>
          </a:prstGeom>
          <a:solidFill>
            <a:srgbClr val="15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57400"/>
            <a:ext cx="4709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300" b="1">
                <a:solidFill>
                  <a:srgbClr val="15845F"/>
                </a:solidFill>
                <a:latin typeface="Arial"/>
              </a:defRPr>
            </a:pPr>
            <a:r>
              <a:t>2   WORKSHOP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97480"/>
            <a:ext cx="4663440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Tap the map to see more.</a:t>
            </a: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Tap a symbol to learn</a:t>
            </a:r>
          </a:p>
          <a:p>
            <a:pPr algn="l">
              <a:defRPr sz="2100" b="0">
                <a:solidFill>
                  <a:srgbClr val="14254A"/>
                </a:solidFill>
                <a:latin typeface="Arial"/>
              </a:defRPr>
            </a:pPr>
            <a:r>
              <a:t>what it 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Ready for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A quick check can help you remember your safety gear.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017520" cy="352044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7632" y="2194560"/>
            <a:ext cx="1143000" cy="1143000"/>
          </a:xfrm>
          <a:prstGeom prst="ellipse">
            <a:avLst/>
          </a:prstGeom>
          <a:solidFill>
            <a:srgbClr val="BF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71016" y="3456432"/>
            <a:ext cx="1874519" cy="1298448"/>
          </a:xfrm>
          <a:prstGeom prst="round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882896"/>
            <a:ext cx="1463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10234A"/>
                </a:solidFill>
                <a:latin typeface="Arial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044952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700" b="1">
                <a:solidFill>
                  <a:srgbClr val="2259D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74519"/>
            <a:ext cx="2834640" cy="3520440"/>
          </a:xfrm>
          <a:prstGeom prst="roundRect">
            <a:avLst/>
          </a:prstGeom>
          <a:solidFill>
            <a:srgbClr val="E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194560"/>
            <a:ext cx="22860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5845F"/>
                </a:solidFill>
                <a:latin typeface="Arial"/>
              </a:defRPr>
            </a:pPr>
            <a:r>
              <a:t>CAMERA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770632"/>
            <a:ext cx="1463040" cy="1005840"/>
          </a:xfrm>
          <a:prstGeom prst="roundRect">
            <a:avLst/>
          </a:prstGeom>
          <a:solidFill>
            <a:srgbClr val="15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98464" y="2990088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44768" y="3136392"/>
            <a:ext cx="292608" cy="292608"/>
          </a:xfrm>
          <a:prstGeom prst="ellipse">
            <a:avLst/>
          </a:prstGeom>
          <a:solidFill>
            <a:srgbClr val="15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251960"/>
            <a:ext cx="2286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4254A"/>
                </a:solidFill>
                <a:latin typeface="Arial"/>
              </a:defRPr>
            </a:pPr>
            <a:r>
              <a:t>Looks for gear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044952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700" b="1">
                <a:solidFill>
                  <a:srgbClr val="2259D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74519"/>
            <a:ext cx="2606040" cy="3520440"/>
          </a:xfrm>
          <a:prstGeom prst="roundRect">
            <a:avLst/>
          </a:prstGeom>
          <a:solidFill>
            <a:srgbClr val="FFF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94560"/>
            <a:ext cx="22402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4254A"/>
                </a:solidFill>
                <a:latin typeface="Arial"/>
              </a:defRPr>
            </a:pPr>
            <a:r>
              <a:t>REMINDER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07792"/>
            <a:ext cx="214884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4254A"/>
                </a:solidFill>
                <a:latin typeface="Arial"/>
              </a:defRPr>
            </a:pPr>
            <a:r>
              <a:t>Please put</a:t>
            </a:r>
          </a:p>
          <a:p>
            <a:pPr algn="ctr">
              <a:defRPr sz="2400" b="1">
                <a:solidFill>
                  <a:srgbClr val="14254A"/>
                </a:solidFill>
                <a:latin typeface="Arial"/>
              </a:defRPr>
            </a:pPr>
            <a:r>
              <a:t>on your</a:t>
            </a:r>
          </a:p>
          <a:p>
            <a:pPr algn="ctr">
              <a:defRPr sz="2400" b="1">
                <a:solidFill>
                  <a:srgbClr val="14254A"/>
                </a:solidFill>
                <a:latin typeface="Arial"/>
              </a:defRPr>
            </a:pPr>
            <a:r>
              <a:t>safety gear.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07024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0">
                <a:solidFill>
                  <a:srgbClr val="51627D"/>
                </a:solidFill>
                <a:latin typeface="Arial"/>
              </a:defRPr>
            </a:pPr>
            <a:r>
              <a:t>The AI can make mistakes. A person can always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Find your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Tap the map. It gets bigger.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6" name="Picture 5" descr="layo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407408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828800"/>
            <a:ext cx="5852160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2103120"/>
            <a:ext cx="502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000" b="1">
                <a:solidFill>
                  <a:srgbClr val="2259D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30552"/>
            <a:ext cx="44805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1">
                <a:solidFill>
                  <a:srgbClr val="14254A"/>
                </a:solidFill>
                <a:latin typeface="Arial"/>
              </a:defRPr>
            </a:pPr>
            <a:r>
              <a:t>Tap the workshop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035808"/>
            <a:ext cx="502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000" b="1">
                <a:solidFill>
                  <a:srgbClr val="2259D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4805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1">
                <a:solidFill>
                  <a:srgbClr val="14254A"/>
                </a:solidFill>
                <a:latin typeface="Arial"/>
              </a:defRPr>
            </a:pPr>
            <a:r>
              <a:t>Zoom in to see 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968496"/>
            <a:ext cx="502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000" b="1">
                <a:solidFill>
                  <a:srgbClr val="2259D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95928"/>
            <a:ext cx="44805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1">
                <a:solidFill>
                  <a:srgbClr val="14254A"/>
                </a:solidFill>
                <a:latin typeface="Arial"/>
              </a:defRPr>
            </a:pPr>
            <a:r>
              <a:t>Tap a symbol.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91072"/>
            <a:ext cx="6400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51627D"/>
                </a:solidFill>
                <a:latin typeface="Arial"/>
              </a:defRPr>
            </a:pPr>
            <a:r>
              <a:t>Example plan supplied for the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Tap a symbol. Learn what it means.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See it. Read it. Hear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017520" cy="3611880"/>
          </a:xfrm>
          <a:prstGeom prst="roundRect">
            <a:avLst/>
          </a:prstGeom>
          <a:solidFill>
            <a:srgbClr val="E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258568"/>
            <a:ext cx="1463040" cy="1463040"/>
          </a:xfrm>
          <a:prstGeom prst="ellipse">
            <a:avLst/>
          </a:prstGeom>
          <a:solidFill>
            <a:srgbClr val="15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0784" y="2267712"/>
            <a:ext cx="1078992" cy="978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4151376"/>
            <a:ext cx="2286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5845F"/>
                </a:solidFill>
                <a:latin typeface="Arial"/>
              </a:defRPr>
            </a:pPr>
            <a:r>
              <a:t>FIRST 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3017520"/>
            <a:ext cx="6400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400" b="1">
                <a:solidFill>
                  <a:srgbClr val="2259D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828800"/>
            <a:ext cx="6720840" cy="361188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76272"/>
            <a:ext cx="5669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800" b="1">
                <a:solidFill>
                  <a:srgbClr val="10234A"/>
                </a:solidFill>
                <a:latin typeface="Arial"/>
              </a:defRPr>
            </a:pPr>
            <a:r>
              <a:t>First 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907792"/>
            <a:ext cx="566928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0">
                <a:solidFill>
                  <a:srgbClr val="14254A"/>
                </a:solidFill>
                <a:latin typeface="Arial"/>
              </a:defRPr>
            </a:pPr>
            <a:r>
              <a:t>You can get help here</a:t>
            </a:r>
          </a:p>
          <a:p>
            <a:pPr algn="l">
              <a:defRPr sz="2500" b="0">
                <a:solidFill>
                  <a:srgbClr val="14254A"/>
                </a:solidFill>
                <a:latin typeface="Arial"/>
              </a:defRPr>
            </a:pPr>
            <a:r>
              <a:t>if you are hurt.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343400"/>
            <a:ext cx="2423160" cy="594360"/>
          </a:xfrm>
          <a:prstGeom prst="round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4443984"/>
            <a:ext cx="2121408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▶  Listen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78992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51627D"/>
                </a:solidFill>
                <a:latin typeface="Arial"/>
              </a:defRPr>
            </a:pPr>
            <a:r>
              <a:t>Example symbol. Real locations must be checked on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Colours help you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Each colour has a meaning. Tap a colour to explore.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633472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" y="2240280"/>
            <a:ext cx="1188720" cy="1188720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2295144"/>
            <a:ext cx="9601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22191"/>
            <a:ext cx="226771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100" b="1">
                <a:solidFill>
                  <a:srgbClr val="14254A"/>
                </a:solidFill>
                <a:latin typeface="Arial"/>
              </a:defRPr>
            </a:pPr>
            <a: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389120"/>
            <a:ext cx="2231136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14254A"/>
                </a:solidFill>
                <a:latin typeface="Arial"/>
              </a:defRPr>
            </a:pPr>
            <a:r>
              <a:t>You must do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1920240"/>
            <a:ext cx="2633472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240280"/>
            <a:ext cx="1188720" cy="1188720"/>
          </a:xfrm>
          <a:prstGeom prst="ellipse">
            <a:avLst/>
          </a:prstGeom>
          <a:solidFill>
            <a:srgbClr val="D94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295144"/>
            <a:ext cx="9601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Arial"/>
              </a:defRPr>
            </a:pPr>
            <a: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3822191"/>
            <a:ext cx="226771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100" b="1">
                <a:solidFill>
                  <a:srgbClr val="14254A"/>
                </a:solidFill>
                <a:latin typeface="Arial"/>
              </a:defRPr>
            </a:pPr>
            <a: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4389120"/>
            <a:ext cx="2231136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14254A"/>
                </a:solidFill>
                <a:latin typeface="Arial"/>
              </a:defRPr>
            </a:pPr>
            <a:r>
              <a:t>Do not do this.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1920240"/>
            <a:ext cx="2633472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87184" y="2240280"/>
            <a:ext cx="1188720" cy="1188720"/>
          </a:xfrm>
          <a:prstGeom prst="ellipse">
            <a:avLst/>
          </a:prstGeom>
          <a:solidFill>
            <a:srgbClr val="15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2295144"/>
            <a:ext cx="9601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822191"/>
            <a:ext cx="226771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100" b="1">
                <a:solidFill>
                  <a:srgbClr val="14254A"/>
                </a:solidFill>
                <a:latin typeface="Arial"/>
              </a:defRPr>
            </a:pPr>
            <a: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4389120"/>
            <a:ext cx="2231136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14254A"/>
                </a:solidFill>
                <a:latin typeface="Arial"/>
              </a:defRPr>
            </a:pPr>
            <a:r>
              <a:t>Help and safe exits.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4312" y="1920240"/>
            <a:ext cx="2633472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6688" y="2240280"/>
            <a:ext cx="1188720" cy="1188720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86416" y="2295144"/>
            <a:ext cx="9601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500" b="1">
                <a:solidFill>
                  <a:srgbClr val="10234A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822191"/>
            <a:ext cx="226771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100" b="1">
                <a:solidFill>
                  <a:srgbClr val="14254A"/>
                </a:solidFill>
                <a:latin typeface="Arial"/>
              </a:defRPr>
            </a:pPr>
            <a:r>
              <a:t>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389120"/>
            <a:ext cx="2231136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14254A"/>
                </a:solidFill>
                <a:latin typeface="Arial"/>
              </a:defRPr>
            </a:pPr>
            <a:r>
              <a:t>Be careful.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100" b="1">
                <a:solidFill>
                  <a:srgbClr val="10234A"/>
                </a:solidFill>
                <a:latin typeface="Arial"/>
              </a:defRPr>
            </a:pPr>
            <a:r>
              <a:t>A little help. A big difference.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51627D"/>
                </a:solidFill>
                <a:latin typeface="Arial"/>
              </a:defRPr>
            </a:pPr>
            <a:r>
              <a:t>Our idea for a friendlier, safer workplace.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0">
                <a:solidFill>
                  <a:srgbClr val="51627D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072030"/>
            <a:ext cx="1865376" cy="1426464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94206" y="2225649"/>
            <a:ext cx="1580083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57553" y="2478024"/>
            <a:ext cx="175564" cy="175564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5377" y="2478024"/>
            <a:ext cx="175564" cy="175564"/>
          </a:xfrm>
          <a:prstGeom prst="ellipse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7982" y="2851099"/>
            <a:ext cx="603504" cy="65836"/>
          </a:xfrm>
          <a:prstGeom prst="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71016" y="3443630"/>
            <a:ext cx="1426464" cy="1514246"/>
          </a:xfrm>
          <a:prstGeom prst="roundRect">
            <a:avLst/>
          </a:prstGeom>
          <a:solidFill>
            <a:srgbClr val="225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79499" y="3706977"/>
            <a:ext cx="1009497" cy="7461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9928" y="3794760"/>
            <a:ext cx="570585" cy="46085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700" b="1">
                <a:solidFill>
                  <a:srgbClr val="D94249"/>
                </a:solidFill>
                <a:latin typeface="Arial"/>
              </a:defRPr>
            </a:pPr>
            <a:r>
              <a:t>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" y="3575303"/>
            <a:ext cx="384048" cy="1097280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52344" y="3575303"/>
            <a:ext cx="384048" cy="1097280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34363" y="4903012"/>
            <a:ext cx="932688" cy="263347"/>
          </a:xfrm>
          <a:prstGeom prst="roundRect">
            <a:avLst/>
          </a:prstGeom>
          <a:solidFill>
            <a:srgbClr val="D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1874519"/>
            <a:ext cx="7635240" cy="3474720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2240280"/>
            <a:ext cx="67208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1">
                <a:solidFill>
                  <a:srgbClr val="14254A"/>
                </a:solidFill>
                <a:latin typeface="Arial"/>
              </a:defRPr>
            </a:pPr>
            <a:r>
              <a:t>✓   Remember your safety gear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108960"/>
            <a:ext cx="67208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1">
                <a:solidFill>
                  <a:srgbClr val="14254A"/>
                </a:solidFill>
                <a:latin typeface="Arial"/>
              </a:defRPr>
            </a:pPr>
            <a:r>
              <a:t>✓   Explore the workshop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3977639"/>
            <a:ext cx="67208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1">
                <a:solidFill>
                  <a:srgbClr val="14254A"/>
                </a:solidFill>
                <a:latin typeface="Arial"/>
              </a:defRPr>
            </a:pPr>
            <a:r>
              <a:t>✓   Learn with pictures and sound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715000"/>
            <a:ext cx="41148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900" b="1">
                <a:solidFill>
                  <a:srgbClr val="2259D6"/>
                </a:solidFill>
                <a:latin typeface="Arial"/>
              </a:defRPr>
            </a:pPr>
            <a:r>
              <a:t>Thank you!</a:t>
            </a:r>
          </a:p>
        </p:txBody>
      </p:sp>
      <p:pic>
        <p:nvPicPr>
          <p:cNvPr id="22" name="Picture 21" descr="logo-cropped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5760720"/>
            <a:ext cx="2743200" cy="7911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